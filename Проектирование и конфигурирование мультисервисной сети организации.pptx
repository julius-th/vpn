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B6CB"/>
    <a:srgbClr val="1B3249"/>
    <a:srgbClr val="62A0C6"/>
    <a:srgbClr val="46B1E1"/>
    <a:srgbClr val="49CADF"/>
    <a:srgbClr val="30DBF8"/>
    <a:srgbClr val="244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84750-5C25-C762-F857-3C4CE6D6C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C7D23B-7220-42D4-CBE4-A48685BEA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2E035F-B348-2785-20AF-B8C893A7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E982A4-251D-043B-C65A-60A2148C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DDED2-F56B-F873-1AA4-C2B043F0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92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4E752-6A62-75ED-2372-ADF3FF8E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32A6EE-50FA-0003-043C-AAA281BDD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277E00-6A0D-B4B1-DF29-F1567745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64552-1955-C187-454B-B3825918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4A0B1D-6C10-6291-3081-0D8CEA41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08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F8C2E-0777-87E1-F68C-E3FBD3BA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E9CA6C-6E0A-EB38-7550-EEF6EA694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13F00C-BFEA-0A03-52E6-F172C8D3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1113C-A651-C210-355D-B957B8C4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337156-CAA6-488C-8744-062FF6ED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72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AAFFF-05D2-51A6-700C-EA10CEDA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56E955-57BF-0929-2B34-CC6DB2AD3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4FED2B-AF5B-C037-665F-50B03E20A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722C49-C589-F5C7-BE60-BFBD6E7C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A47F13-FE4A-6573-37B7-24E31816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6A23D0-61EB-8659-9581-C0EA282E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45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A098F-677E-D5FE-B9AC-A7DC0FDD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7BEEF8-EDAA-1F5A-ABEA-B355FA4AC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5A985A-7F68-72DE-2E8A-9082A9C53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F78943-2F6A-C9CD-0D16-54377F01A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3FE36C-041A-9547-A7B8-9AF93AE1B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00EA5B-E660-467A-39FA-DE0F8F4E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BC187E-4762-675E-BFD6-98448174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921A7C-BA83-E775-CFFC-36506F47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01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6F615-079B-AF49-C895-D17B6A7F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7B4880-AAB5-E924-5232-0B1E058A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46FC85-A3CF-5C27-7AEC-22152BD8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43ADBF-538E-4E6A-9296-514A6B57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4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8C0B71-F86C-BD16-7495-C5829989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9F200E-6241-96DE-6B97-9B67FB3D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81AE2D-F1EB-9B1E-B27D-D8F530DD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53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B49C9-16E9-0EEA-59EB-F950BD02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F83C5-7DDE-84E3-8E67-2ED238665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83D852-C47F-2E1A-C319-0AF6067FE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CA404C-DBC4-AE33-5231-453BB20A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5DD6A1-97E1-F390-BD68-B75F5D82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EB0F1C-A016-9F00-F2CC-480A287D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66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1B1FB-DC89-523B-3214-7BDBD715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8BC65B-37D9-6F4D-1E93-D19D5DC36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50F194-C7A4-3BFB-253C-1CE97CED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7DD0E1-92E7-2012-B070-CDFDEA19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D33B02-9BCF-6805-4CBC-67DCCA26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E96390-281B-6206-E1CB-C9ACA2D8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75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E0F63-4AC8-72D3-4BDB-6E3D9F86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6CEDD0-3457-7F85-04FC-78E69D862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74EAB9-18FB-631F-F8D8-7183D2FE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2C2178-F2AE-D5D8-47BC-BD1D05EB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4A3F3-E87D-864A-934B-DB6005A0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42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D20023-1724-E201-9346-99C26455A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46431C-BA31-6321-EDFE-97A79F3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C8C01-701E-5AA7-CC2B-A291EC0A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3D4942-15DD-F2C7-CB57-331988A5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80161E-ED4C-6663-458F-4FD30C88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27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chemeClr val="accent1">
                <a:lumMod val="89000"/>
              </a:schemeClr>
            </a:gs>
            <a:gs pos="22000">
              <a:schemeClr val="accent1">
                <a:lumMod val="89000"/>
              </a:schemeClr>
            </a:gs>
            <a:gs pos="70000">
              <a:srgbClr val="1B3249"/>
            </a:gs>
            <a:gs pos="47000">
              <a:schemeClr val="tx2">
                <a:lumMod val="90000"/>
                <a:lumOff val="10000"/>
              </a:schemeClr>
            </a:gs>
            <a:gs pos="84000">
              <a:schemeClr val="accent1">
                <a:lumMod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B28C5-B357-69B3-C150-90F71CDA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51891-1A35-DDCD-A39B-6CF90E9F2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871740-0F81-0B32-69DC-257828123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D5652-5B26-41E7-BD8D-C8990DA72145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FC74DD-885C-0D4C-48C6-21D59BADB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058DB5-0011-A2D6-E7B8-CF3B20265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E9B4A-970B-4B37-B37A-1E6C58B24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93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F3696-D45E-185B-144D-5FAD803CC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79" y="2541124"/>
            <a:ext cx="11506954" cy="1324826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30DBF8"/>
                </a:solidFill>
                <a:latin typeface="Arial Black" panose="020B0A04020102020204" pitchFamily="34" charset="0"/>
              </a:rPr>
              <a:t>Проектирование и конфигурирование мультисервисной сети организации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ECDE3D-034F-B073-43DA-9F22E23F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266" y="4316876"/>
            <a:ext cx="9158381" cy="929726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49CADF"/>
                </a:solidFill>
                <a:latin typeface="Arial Black" panose="020B0A04020102020204" pitchFamily="34" charset="0"/>
              </a:rPr>
              <a:t>Защита доступа и централизованная аутентификация на базе протокола RADIUS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70E1756-4013-CA80-40F6-A1798E7E2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225" y="85912"/>
            <a:ext cx="2550461" cy="255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0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3F89B-1FE0-721F-450A-883E3B5A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8400"/>
          </a:xfrm>
        </p:spPr>
        <p:txBody>
          <a:bodyPr/>
          <a:lstStyle/>
          <a:p>
            <a:r>
              <a:rPr lang="ru-RU" dirty="0">
                <a:solidFill>
                  <a:srgbClr val="30DBF8"/>
                </a:solidFill>
                <a:latin typeface="Arial Black" panose="020B0A04020102020204" pitchFamily="34" charset="0"/>
              </a:rPr>
              <a:t>Цель и задачи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0C366-509C-B8BC-3AF1-235A3689B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6"/>
            <a:ext cx="109156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Разработать и смоделировать мультисервисную корпоративную сеть с обеспечением </a:t>
            </a:r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надежности</a:t>
            </a:r>
            <a:r>
              <a:rPr lang="ru-RU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, безопасности и доступности сетевых ресурсов</a:t>
            </a:r>
          </a:p>
          <a:p>
            <a:pPr marL="0" indent="0">
              <a:buNone/>
            </a:pPr>
            <a:endParaRPr lang="ru-RU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Задачи:</a:t>
            </a:r>
          </a:p>
          <a:p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Разработать структуру корпоративной сети</a:t>
            </a:r>
          </a:p>
          <a:p>
            <a:pPr lvl="0"/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Настроить VLAN и межсетевую маршрутизацию</a:t>
            </a:r>
          </a:p>
          <a:p>
            <a:pPr lvl="0"/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Реализовать DHCP, OSPFv2 и HSRP</a:t>
            </a:r>
          </a:p>
          <a:p>
            <a:pPr lvl="0"/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Настроить NAT/PAT и защищенный туннель GRE over IPsec</a:t>
            </a:r>
          </a:p>
          <a:p>
            <a:pPr lvl="0"/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Организовать Wi-Fi и IP-телефонию</a:t>
            </a:r>
          </a:p>
          <a:p>
            <a:pPr lvl="0"/>
            <a:r>
              <a:rPr lang="ru-RU" sz="2000" b="1" dirty="0">
                <a:solidFill>
                  <a:srgbClr val="46B1E1"/>
                </a:solidFill>
                <a:latin typeface="Arial Black" panose="020B0A04020102020204" pitchFamily="34" charset="0"/>
              </a:rPr>
              <a:t>Проверить работоспособность сети</a:t>
            </a:r>
          </a:p>
          <a:p>
            <a:pPr marL="0" indent="0">
              <a:buNone/>
            </a:pPr>
            <a:endParaRPr lang="ru-RU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30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7C404-E904-FE42-5028-A86ED138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163"/>
            <a:ext cx="10982325" cy="1325563"/>
          </a:xfrm>
        </p:spPr>
        <p:txBody>
          <a:bodyPr/>
          <a:lstStyle/>
          <a:p>
            <a:r>
              <a:rPr lang="ru-RU" dirty="0">
                <a:solidFill>
                  <a:srgbClr val="49CADF"/>
                </a:solidFill>
                <a:latin typeface="Arial Black" panose="020B0A04020102020204" pitchFamily="34" charset="0"/>
              </a:rPr>
              <a:t>Структура мультисервисной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3F5C5-120A-4735-D94D-D5C8B550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648949" cy="144145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solidFill>
                  <a:srgbClr val="46B1E1"/>
                </a:solidFill>
                <a:latin typeface="Arial Black" panose="020B0A04020102020204" pitchFamily="34" charset="0"/>
              </a:rPr>
              <a:t>Мультисервисная сеть объединяет передачу данных, голосовую связь и беспроводной доступ в единую инфраструктуру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CC179-EEF7-9AA4-648E-24A0717B2BBA}"/>
              </a:ext>
            </a:extLst>
          </p:cNvPr>
          <p:cNvSpPr txBox="1"/>
          <p:nvPr/>
        </p:nvSpPr>
        <p:spPr>
          <a:xfrm>
            <a:off x="838199" y="3118188"/>
            <a:ext cx="107537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46B1E1"/>
                </a:solidFill>
                <a:latin typeface="Arial Black" panose="020B0A04020102020204" pitchFamily="34" charset="0"/>
              </a:rPr>
              <a:t>Уровень доступа </a:t>
            </a:r>
            <a:r>
              <a:rPr lang="ru-RU" sz="2400" dirty="0">
                <a:solidFill>
                  <a:srgbClr val="5DB6CB"/>
                </a:solidFill>
                <a:latin typeface="Arial Black" panose="020B0A04020102020204" pitchFamily="34" charset="0"/>
              </a:rPr>
              <a:t>- подключение компьютеров, IP-телефонов и точек доступа.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46B1E1"/>
                </a:solidFill>
                <a:latin typeface="Arial Black" panose="020B0A04020102020204" pitchFamily="34" charset="0"/>
              </a:rPr>
              <a:t>Уровень распределения </a:t>
            </a:r>
            <a:r>
              <a:rPr lang="ru-RU" sz="2400" dirty="0">
                <a:solidFill>
                  <a:srgbClr val="5DB6CB"/>
                </a:solidFill>
                <a:latin typeface="Arial Black" panose="020B0A04020102020204" pitchFamily="34" charset="0"/>
              </a:rPr>
              <a:t>- маршрутизация между VLAN и обеспечение отказоустойчивости.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46B1E1"/>
                </a:solidFill>
                <a:latin typeface="Arial Black" panose="020B0A04020102020204" pitchFamily="34" charset="0"/>
              </a:rPr>
              <a:t>Сетевые сервисы </a:t>
            </a:r>
            <a:r>
              <a:rPr lang="ru-RU" sz="2400" dirty="0">
                <a:solidFill>
                  <a:srgbClr val="5DB6CB"/>
                </a:solidFill>
                <a:latin typeface="Arial Black" panose="020B0A04020102020204" pitchFamily="34" charset="0"/>
              </a:rPr>
              <a:t>- DHCP, WLC и IP-телефония.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rgbClr val="46B1E1"/>
                </a:solidFill>
                <a:latin typeface="Arial Black" panose="020B0A04020102020204" pitchFamily="34" charset="0"/>
              </a:rPr>
              <a:t>Внешний уровень </a:t>
            </a:r>
            <a:r>
              <a:rPr lang="ru-RU" sz="2400" dirty="0">
                <a:solidFill>
                  <a:srgbClr val="5DB6CB"/>
                </a:solidFill>
                <a:latin typeface="Arial Black" panose="020B0A04020102020204" pitchFamily="34" charset="0"/>
              </a:rPr>
              <a:t>- подключение к Интернету и защищенная связь между удаленными сетями.</a:t>
            </a:r>
          </a:p>
        </p:txBody>
      </p:sp>
    </p:spTree>
    <p:extLst>
      <p:ext uri="{BB962C8B-B14F-4D97-AF65-F5344CB8AC3E}">
        <p14:creationId xmlns:p14="http://schemas.microsoft.com/office/powerpoint/2010/main" val="22817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8E5A5-8419-D7C6-C9A3-42FBF954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65125"/>
            <a:ext cx="11353800" cy="1325563"/>
          </a:xfrm>
        </p:spPr>
        <p:txBody>
          <a:bodyPr/>
          <a:lstStyle/>
          <a:p>
            <a:r>
              <a:rPr lang="ru-RU" dirty="0">
                <a:solidFill>
                  <a:srgbClr val="46B1E1"/>
                </a:solidFill>
                <a:latin typeface="Arial Black" panose="020B0A04020102020204" pitchFamily="34" charset="0"/>
              </a:rPr>
              <a:t>Разделение сети с помощью VLAN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0317408-CF6A-7828-05FF-1FB571D107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576817"/>
              </p:ext>
            </p:extLst>
          </p:nvPr>
        </p:nvGraphicFramePr>
        <p:xfrm>
          <a:off x="838200" y="3816509"/>
          <a:ext cx="10515600" cy="185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165895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8468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VLAN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3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rgbClr val="62A0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Учителя</a:t>
                      </a:r>
                    </a:p>
                  </a:txBody>
                  <a:tcPr anchor="ctr">
                    <a:solidFill>
                      <a:srgbClr val="62A0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65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30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Управление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1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45</a:t>
                      </a:r>
                    </a:p>
                  </a:txBody>
                  <a:tcPr anchor="ctr">
                    <a:solidFill>
                      <a:srgbClr val="62A0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Студенты</a:t>
                      </a:r>
                    </a:p>
                  </a:txBody>
                  <a:tcPr anchor="ctr">
                    <a:solidFill>
                      <a:srgbClr val="62A0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346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75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1B3249"/>
                          </a:solidFill>
                          <a:latin typeface="Arial Black" panose="020B0A04020102020204" pitchFamily="34" charset="0"/>
                        </a:rPr>
                        <a:t>Телефония</a:t>
                      </a:r>
                    </a:p>
                  </a:txBody>
                  <a:tcPr anchor="ctr">
                    <a:solidFill>
                      <a:srgbClr val="5DB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4243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A906BB0-4B2D-2722-1037-50BEFE76B167}"/>
              </a:ext>
            </a:extLst>
          </p:cNvPr>
          <p:cNvSpPr txBox="1"/>
          <p:nvPr/>
        </p:nvSpPr>
        <p:spPr>
          <a:xfrm>
            <a:off x="371474" y="1858060"/>
            <a:ext cx="115824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5DB6CB"/>
                </a:solidFill>
                <a:latin typeface="Arial Black" panose="020B0A04020102020204" pitchFamily="34" charset="0"/>
              </a:rPr>
              <a:t>Для повышения безопасности и упрощения управления сеть разделена на виртуальные локальные сети (VLAN)</a:t>
            </a:r>
          </a:p>
        </p:txBody>
      </p:sp>
    </p:spTree>
    <p:extLst>
      <p:ext uri="{BB962C8B-B14F-4D97-AF65-F5344CB8AC3E}">
        <p14:creationId xmlns:p14="http://schemas.microsoft.com/office/powerpoint/2010/main" val="424615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BF99F-1194-8FBA-2FED-7B642D92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81" y="2516584"/>
            <a:ext cx="11806238" cy="1824832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5DB6CB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961962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Широкоэкранный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Wingdings</vt:lpstr>
      <vt:lpstr>Тема Office</vt:lpstr>
      <vt:lpstr>Проектирование и конфигурирование мультисервисной сети организации</vt:lpstr>
      <vt:lpstr>Цель и задачи курсовой работы</vt:lpstr>
      <vt:lpstr>Структура мультисервисной сети</vt:lpstr>
      <vt:lpstr>Разделение сети с помощью VLAN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boba tomato</dc:creator>
  <cp:lastModifiedBy>boba tomato</cp:lastModifiedBy>
  <cp:revision>1</cp:revision>
  <dcterms:created xsi:type="dcterms:W3CDTF">2026-10-23T17:06:17Z</dcterms:created>
  <dcterms:modified xsi:type="dcterms:W3CDTF">2026-10-23T17:06:21Z</dcterms:modified>
</cp:coreProperties>
</file>